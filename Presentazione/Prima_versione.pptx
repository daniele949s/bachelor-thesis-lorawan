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56f9936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56f9936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56f99362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56f99362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56f9936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56f9936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56f9936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56f9936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77a19719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77a19719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6f99362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56f99362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56f99362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56f99362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77a19719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77a19719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77a19719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77a19719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6f99362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56f99362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77a19719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77a19719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440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" sz="458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Architetture LoRa e LoRaWAN:</a:t>
            </a:r>
            <a:endParaRPr sz="458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458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utilizzo e performance</a:t>
            </a:r>
            <a:endParaRPr sz="458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815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36000" y="4483200"/>
            <a:ext cx="798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Anno accademico 2024/2025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02550" y="428350"/>
            <a:ext cx="80121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Università degli studi di Bologna</a:t>
            </a:r>
            <a:endParaRPr b="1" sz="1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Facoltà di </a:t>
            </a:r>
            <a:r>
              <a:rPr b="1" lang="it" sz="1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Ingegneria</a:t>
            </a:r>
            <a:endParaRPr b="1" sz="1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36200" y="41557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IoT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3200" y="1152000"/>
            <a:ext cx="8672400" cy="25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L’IoT è un’infrastruttura globale per la Società dell’Informazione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Fornisce servizi avanzati interconnettendo degli oggetti (fisici o virtuali) basandosi su tecnologie della comunicazione e dell’informazione già esistenti e in evoluzione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dispositivo, in ambito dell’IoT, è un pezzo di equipaggiamento con la capacità fondamentale di comunicare con le reti di informazione e di comunicazione. 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la crescita esponenziale dei dispositivi connessi, sorge il problema di come interconnetterli tutti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623125" y="3114325"/>
            <a:ext cx="558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66" name="Google Shape;66;p14" title="iott.jpg"/>
          <p:cNvPicPr preferRelativeResize="0"/>
          <p:nvPr/>
        </p:nvPicPr>
        <p:blipFill rotWithShape="1">
          <a:blip r:embed="rId3">
            <a:alphaModFix/>
          </a:blip>
          <a:srcRect b="0" l="0" r="0" t="31389"/>
          <a:stretch/>
        </p:blipFill>
        <p:spPr>
          <a:xfrm>
            <a:off x="2172025" y="3060175"/>
            <a:ext cx="4021443" cy="19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0" y="4613275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Reti LPWAN 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671500" cy="13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 i vari approcci per risolvere i problemi dovuti alla crescita dei dispositivi, c’è quello di potenziare le reti dedicate a servizi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IoT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 queste, nella categoria di quelle con una piccola larghezza di banda, troviamo le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LPWAN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che offrono comunicazioni a lunga distanza con un basso consumo energetico. Tra le più utilizzate troviamo: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156742" y="3449699"/>
            <a:ext cx="713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825" lIns="61825" spcFirstLastPara="1" rIns="61825" wrap="square" tIns="61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1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014542" y="3664814"/>
            <a:ext cx="713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825" lIns="61825" spcFirstLastPara="1" rIns="61825" wrap="square" tIns="61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1">
              <a:solidFill>
                <a:schemeClr val="dk2"/>
              </a:solidFill>
            </a:endParaRPr>
          </a:p>
        </p:txBody>
      </p:sp>
      <p:pic>
        <p:nvPicPr>
          <p:cNvPr id="78" name="Google Shape;78;p15" title="loraw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1496" y="3803938"/>
            <a:ext cx="1520086" cy="69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lpw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408" y="2654501"/>
            <a:ext cx="1838360" cy="1083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rpm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997" y="3838571"/>
            <a:ext cx="1253551" cy="629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sigfox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500" y="2654500"/>
            <a:ext cx="1029468" cy="1083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weighhtttlessss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6803" y="3020009"/>
            <a:ext cx="1961622" cy="3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75825" y="4715851"/>
            <a:ext cx="307500" cy="336000"/>
          </a:xfrm>
          <a:prstGeom prst="rect">
            <a:avLst/>
          </a:prstGeom>
        </p:spPr>
        <p:txBody>
          <a:bodyPr anchorCtr="0" anchor="ctr" bIns="53775" lIns="53775" spcFirstLastPara="1" rIns="53775" wrap="square" tIns="537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0" y="4611600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5"/>
          <p:cNvSpPr txBox="1"/>
          <p:nvPr/>
        </p:nvSpPr>
        <p:spPr>
          <a:xfrm>
            <a:off x="5384400" y="2654500"/>
            <a:ext cx="3447900" cy="26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particolare analizzeremo più attentamente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LoRa/LoRaWAN,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più semplicemente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LoRaWAN</a:t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livello fisico sfrutta la modulazione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che insieme al protocollo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LoRaWAN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 livello MAC forma la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LPWAN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vera e propria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Rete LoRa/LoRaWAN : Introduzione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13200" y="1152000"/>
            <a:ext cx="90819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Questa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rete ha una topologia di tipo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stella-di-stelle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più reti stella sono connesse ad una centrale.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13200" y="2261675"/>
            <a:ext cx="3480300" cy="18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componenti della rete sono: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End-devices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 server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server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server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4" name="Google Shape;94;p16" title="LoRaWAN-Star-of-Stars-topolog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067" y="1972500"/>
            <a:ext cx="3931433" cy="227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0" y="4613275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Rete LoRa/LoRaWAN : livello fisico LoRa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3200" y="1152000"/>
            <a:ext cx="8520600" cy="10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 è una tecnologia di modulazione a spettro espanso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 proprietà della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Semtech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che fornisce comunicazioni a lungo-raggio. Richiede una bassissima 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quantità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 energia, permettendo ai dispositivi con una batteria sufficientemente potente di rimanere attivi fino a 10 anni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13200" y="2389275"/>
            <a:ext cx="55047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Deriva dalla modulazione a spettro espanso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CSS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caratterizzata dalla codifica dei dati in un segnale “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chirp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che varia continuamente in frequenza e ha una larghezza di banda superiore a quella strettamente necessaria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13200" y="3866625"/>
            <a:ext cx="8634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Nella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LPWAN LoRa/LoRaWAN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occupa solo della comunicazione al livello fisico, per implementare un protocollo di rete vero e proprio (sicurezza, scalabilità ecc) è stato aggiunto anche il protocollo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LoRaWAN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che risiede nel livello MAC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0" y="4613275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" name="Google Shape;109;p17" title="lora-lo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9550" y="2162450"/>
            <a:ext cx="2169626" cy="13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Rete LoRa/LoRaWAN : livello MAC LoRaWAN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12764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LoRaWAN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occupa quindi di definire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quindi tutte le dinamiche di  comunicazione dei vari componenti con chip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tra cui: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Gestione dell’accesso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 dei frame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Sicurezza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Gestione dei parametri 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Procedure di Join 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Gestione delle classi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0" y="4613275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8" name="Google Shape;118;p18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8"/>
          <p:cNvSpPr txBox="1"/>
          <p:nvPr/>
        </p:nvSpPr>
        <p:spPr>
          <a:xfrm>
            <a:off x="313200" y="3648375"/>
            <a:ext cx="880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dispositivi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LoRa/LoRaWAN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possono inoltre essere di 3 classi: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 di dispositivi LoRa/LoRaWAN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313200" y="1152000"/>
            <a:ext cx="8484000" cy="3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Open Sans"/>
              <a:buChar char="●"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 A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definisce il modello operativo di minor consumo energetico, consente una comunicazione limitata tra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End-device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 Server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Open Sans"/>
              <a:buChar char="●"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 B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definisce il modello operativo che, rispetto alla classe A, permette una maggior libertà di comunicazione tra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End-device 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 Server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Open Sans"/>
              <a:buChar char="●"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 C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definisce il modello operativo di maggior consumo energetico, consente una libertà di comunicazione massima tra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End-device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 Server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0" y="4611600"/>
            <a:ext cx="1328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13200" y="1152000"/>
            <a:ext cx="8520600" cy="30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Abbiamo </a:t>
            </a: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condotto dei test per verificare la qualità e il funzionamento dello scambio di messaggi a livello fisico tramite modulazione LoRa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La comunicazione, di tipo punto-a-punto,  è avvenuta tra</a:t>
            </a: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 due dispositivi Raspberry Pi dotati del modulo SX1262 868M LoRa HAT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Per avere dei dati affidabili su cui poter trarre delle conclusioni, sono state prese le seguenti misurazioni variando </a:t>
            </a:r>
            <a:r>
              <a:rPr b="1" lang="it" sz="1200">
                <a:latin typeface="Helvetica Neue"/>
                <a:ea typeface="Helvetica Neue"/>
                <a:cs typeface="Helvetica Neue"/>
                <a:sym typeface="Helvetica Neue"/>
              </a:rPr>
              <a:t>Spreading Factor</a:t>
            </a: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it" sz="1200">
                <a:latin typeface="Helvetica Neue"/>
                <a:ea typeface="Helvetica Neue"/>
                <a:cs typeface="Helvetica Neue"/>
                <a:sym typeface="Helvetica Neue"/>
              </a:rPr>
              <a:t>frequenze</a:t>
            </a: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lang="it" sz="1200">
                <a:latin typeface="Helvetica Neue"/>
                <a:ea typeface="Helvetica Neue"/>
                <a:cs typeface="Helvetica Neue"/>
                <a:sym typeface="Helvetica Neue"/>
              </a:rPr>
              <a:t>dimensione del payload</a:t>
            </a:r>
            <a:r>
              <a:rPr lang="it" sz="12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0" y="4613275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8" name="Google Shape;138;p20" title="LoRaHA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750" y="3515412"/>
            <a:ext cx="2204348" cy="16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279075" y="3488850"/>
            <a:ext cx="55644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Latenza espressa in Round Trip Time (RTT)</a:t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Packet per Second</a:t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Char char="●"/>
            </a:pP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Throughput</a:t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Packet Loss Rate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è stata introdotta una probabilità del 30% di scartare il pacchetto per simulare interferenze 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0" y="4611375"/>
            <a:ext cx="1328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7" name="Google Shape;147;p21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8" name="Google Shape;148;p21" title="grafici_completi_433MHz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25" y="1323575"/>
            <a:ext cx="4693898" cy="310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/>
          <p:nvPr/>
        </p:nvSpPr>
        <p:spPr>
          <a:xfrm>
            <a:off x="5278225" y="1256400"/>
            <a:ext cx="3033300" cy="3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Queste tabelle descrivono il comportamento della comunicazione a frequenza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433 MHz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data rate 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2400 bps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9600 bps </a:t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 potendo modificare direttamente lo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Spreading Factor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ho modificato il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rate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(a uno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Spreading Factor 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basso corrisponde un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rate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alto e viceversa)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Notiamo che 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2400 bps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il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Packet Loss Rate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è molto elevato e in diverse occasioni, nonostante le ritrasmissioni, il pacchetto stato perso definitivamente. Questo è avvenuto perché sono avvenute perdite di pacchetti non dovute alla simulazione di interferenza 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0" y="4613275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7" name="Google Shape;157;p22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22" title="grafici_completi_868MHz.png"/>
          <p:cNvPicPr preferRelativeResize="0"/>
          <p:nvPr/>
        </p:nvPicPr>
        <p:blipFill rotWithShape="1">
          <a:blip r:embed="rId3">
            <a:alphaModFix/>
          </a:blip>
          <a:srcRect b="-1466" l="0" r="0" t="9240"/>
          <a:stretch/>
        </p:blipFill>
        <p:spPr>
          <a:xfrm>
            <a:off x="223200" y="1324800"/>
            <a:ext cx="4694400" cy="30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/>
        </p:nvSpPr>
        <p:spPr>
          <a:xfrm>
            <a:off x="5277600" y="1256400"/>
            <a:ext cx="30348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Queste tabelle descrivono il comportamento della comunicazione a frequenza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868 MHz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data rate 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2400 bps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a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9600 bps </a:t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tutte le situazioni la comunicazione è avvenuta correttamente e tutte le perdite di pacchetti sono avvenute a causa della simulazione di interferenza.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Notiamo che, all’aumentare della dimensione del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Payload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RTT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PPS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aumentano di poco mentre il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Throughput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aumenta in maniera quasi lineare. Questo dimostra che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comporta in maniera più efficace con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Payload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 grandi dimensioni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Sviluppi futuri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311700" y="1440000"/>
            <a:ext cx="8520600" cy="28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 grande impegno mondiale nello sviluppo di questa rete ha portato la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 Alliance® </a:t>
            </a: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scrivere un elenco dei principali obiettivi da raggiungere: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AutoNum type="arabicPeriod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Espansione in nuovi mercati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AutoNum type="arabicPeriod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Iper-scalabilità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AutoNum type="arabicPeriod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Miglioramento della gestione della rete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AutoNum type="arabicPeriod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Certificazione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AutoNum type="arabicPeriod"/>
            </a:pPr>
            <a:r>
              <a:rPr b="1" lang="it" sz="12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Sviluppo del livello fisico</a:t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4444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0" y="4611600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8" name="Google Shape;168;p23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Conclusione</a:t>
            </a:r>
            <a:endParaRPr b="1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0" y="4613275"/>
            <a:ext cx="1328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800">
                <a:solidFill>
                  <a:srgbClr val="0C3C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Daniele Maccagnan - Architetture LoRa e LoRaWAN</a:t>
            </a:r>
            <a:endParaRPr b="1" i="1" sz="800">
              <a:solidFill>
                <a:srgbClr val="0C3C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6" name="Google Shape;176;p24"/>
          <p:cNvCxnSpPr/>
          <p:nvPr/>
        </p:nvCxnSpPr>
        <p:spPr>
          <a:xfrm flipH="1" rot="10800000">
            <a:off x="-11100" y="1060175"/>
            <a:ext cx="9151200" cy="21600"/>
          </a:xfrm>
          <a:prstGeom prst="straightConnector1">
            <a:avLst/>
          </a:prstGeom>
          <a:noFill/>
          <a:ln cap="flat" cmpd="sng" w="19050">
            <a:solidFill>
              <a:srgbClr val="0C3C6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4"/>
          <p:cNvSpPr txBox="1"/>
          <p:nvPr/>
        </p:nvSpPr>
        <p:spPr>
          <a:xfrm>
            <a:off x="313200" y="1368000"/>
            <a:ext cx="85725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L’analisi condotta su 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LoRa/LoRaWAN 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 mostrato come questa rete, grazie alla sua robustezza e alla sua flessibilità,  sia una soluzione affidabile per il crescente aumento dei dispositivi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IoT</a:t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sperimentazione ha confermato che la robustezza della modulazione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LoRa</a:t>
            </a:r>
            <a:r>
              <a:rPr lang="it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renda adatta, visto anche il continuo lavoro di sviluppo, a sostenere il vasto utilizzo previsto nel prossimo decennio per comunicazioni a lungo raggio e a basso consumo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